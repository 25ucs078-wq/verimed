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8FAFC"/>
                </a:solidFill>
                <a:latin typeface="Space Grotesk"/>
              </a:defRPr>
            </a:pPr>
            <a:r>
              <a:t>VeriMed</a:t>
            </a:r>
            <a:r>
              <a:rPr>
                <a:solidFill>
                  <a:srgbClr val="2DE0C2"/>
                </a:solidFill>
              </a:rPr>
              <a:t> Intelligence</a:t>
            </a:r>
          </a:p>
          <a:p>
            <a:pPr>
              <a:spcBef>
                <a:spcPts val="1200"/>
              </a:spcBef>
              <a:defRPr sz="2000">
                <a:solidFill>
                  <a:srgbClr val="94A3B8"/>
                </a:solidFill>
                <a:latin typeface="Inter"/>
              </a:defRPr>
            </a:pPr>
            <a:r>
              <a:t>Scan. Verify. Stay Safe. — AI-Powered Counterfeit Medicine Countermeasures</a:t>
            </a:r>
          </a:p>
          <a:p>
            <a:pPr>
              <a:spcBef>
                <a:spcPts val="5000"/>
              </a:spcBef>
              <a:defRPr sz="1600">
                <a:solidFill>
                  <a:srgbClr val="2DE0C2"/>
                </a:solidFill>
                <a:latin typeface="Inter"/>
              </a:defRPr>
            </a:pPr>
            <a:r>
              <a:t>Product Proposal &amp; Ecosystem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E0C2"/>
                </a:solidFill>
                <a:latin typeface="Space Grotesk"/>
              </a:defRPr>
            </a:pPr>
            <a:r>
              <a:t>The Counterfeit Drug Epidemic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•  Global Threat Vector: </a:t>
            </a:r>
            <a:r>
              <a:rPr sz="1400" b="0">
                <a:solidFill>
                  <a:srgbClr val="94A3B8"/>
                </a:solidFill>
              </a:rPr>
              <a:t>Up to 10% of medical products in low- and middle-income countries are falsified or substandard (WHO estimates).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•  Severe Healthcare Impact: </a:t>
            </a:r>
            <a:r>
              <a:rPr sz="1400" b="0">
                <a:solidFill>
                  <a:srgbClr val="94A3B8"/>
                </a:solidFill>
              </a:rPr>
              <a:t>Responsible for hundreds of thousands of preventable deaths annually, including pediatric pneumonia and malaria cases.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•  Connectivity Gaps: </a:t>
            </a:r>
            <a:r>
              <a:rPr sz="1400" b="0">
                <a:solidFill>
                  <a:srgbClr val="94A3B8"/>
                </a:solidFill>
              </a:rPr>
              <a:t>Traditional verification networks fail in remote regions (Sub-Saharan Africa, rural South Asia) due to offline environments.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•  Advanced Imitations: </a:t>
            </a:r>
            <a:r>
              <a:rPr sz="1400" b="0">
                <a:solidFill>
                  <a:srgbClr val="94A3B8"/>
                </a:solidFill>
              </a:rPr>
              <a:t>Holograms and packaging are increasingly easy for counterfeiters to visually clone, requiring algorithmic vision verification.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0132B"/>
          </a:solidFill>
          <a:ln w="19050">
            <a:solidFill>
              <a:srgbClr val="2D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94A3B8"/>
                </a:solidFill>
                <a:latin typeface="Space Grotesk"/>
              </a:defRPr>
            </a:pPr>
            <a:r>
              <a:t>[ DRAG &amp; DROP SCREENSHOT: REGIONAL NEWS / ALERTS HUB 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9C98C1-76D3-5198-7097-FE0CF796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147" y="1645920"/>
            <a:ext cx="5056505" cy="4194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E0C2"/>
                </a:solidFill>
                <a:latin typeface="Space Grotesk"/>
              </a:defRPr>
            </a:pPr>
            <a:r>
              <a:t>The VeriMed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DE0C2"/>
                </a:solidFill>
                <a:latin typeface="Space Grotesk"/>
              </a:defRPr>
            </a:pPr>
            <a:r>
              <a:t>01. AI Packaging Print Vision</a:t>
            </a:r>
            <a:br/>
            <a:r>
              <a:rPr sz="1400" b="0">
                <a:solidFill>
                  <a:srgbClr val="94A3B8"/>
                </a:solidFill>
                <a:latin typeface="Inter"/>
              </a:rPr>
              <a:t>Evaluates logo displacements, typographical kerning anomalies, and color spectrum deviations in real-time.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DE0C2"/>
                </a:solidFill>
                <a:latin typeface="Space Grotesk"/>
              </a:defRPr>
            </a:pPr>
            <a:r>
              <a:t>02. SmartID Cryptographic QR Decrypts</a:t>
            </a:r>
            <a:br/>
            <a:r>
              <a:rPr sz="1400" b="0">
                <a:solidFill>
                  <a:srgbClr val="94A3B8"/>
                </a:solidFill>
                <a:latin typeface="Inter"/>
              </a:rPr>
              <a:t>Decodes DCGI-standard QR parameters and verifies digital signatures utilizing cached manufacturer public keys.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DE0C2"/>
                </a:solidFill>
                <a:latin typeface="Space Grotesk"/>
              </a:defRPr>
            </a:pPr>
            <a:r>
              <a:t>03. Offline-First Synchronizer Center</a:t>
            </a:r>
            <a:br/>
            <a:r>
              <a:rPr sz="1400" b="0">
                <a:solidFill>
                  <a:srgbClr val="94A3B8"/>
                </a:solidFill>
                <a:latin typeface="Inter"/>
              </a:rPr>
              <a:t>Saves verification outboxes locally to SQLite / LocalStorage, and automatically syncs when network connectivity returns.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 b="1">
                <a:solidFill>
                  <a:srgbClr val="2DE0C2"/>
                </a:solidFill>
                <a:latin typeface="Space Grotesk"/>
              </a:defRPr>
            </a:pPr>
            <a:r>
              <a:t>04. Dynamic Threat Maps &amp; News Hub</a:t>
            </a:r>
            <a:br/>
            <a:r>
              <a:rPr sz="1400" b="0">
                <a:solidFill>
                  <a:srgbClr val="94A3B8"/>
                </a:solidFill>
                <a:latin typeface="Inter"/>
              </a:rPr>
              <a:t>Gathers scanning metadata to dynamically map local threat indices and alerts operators in high-risk 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47368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E0C2"/>
                </a:solidFill>
                <a:latin typeface="Space Grotesk"/>
              </a:defRPr>
            </a:pPr>
            <a:r>
              <a:t>Product Showcase: Integrity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  <a:latin typeface="Space Grotesk"/>
              </a:defRPr>
            </a:pPr>
            <a:r>
              <a:t>Central Command Hub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 Dynamic counts displaying total scans conducted and counterfeits blocked.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 Regional Threat Index widgets showing active threat levels and trend metrics.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 Recent activity logs providing immediate audits on verified and suspect batches.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 Responsive sidebar menu converting into a floating glass tab bar on mobile layouts.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645920"/>
            <a:ext cx="6217920" cy="4114800"/>
          </a:xfrm>
          <a:prstGeom prst="rect">
            <a:avLst/>
          </a:prstGeom>
          <a:solidFill>
            <a:srgbClr val="10132B"/>
          </a:solidFill>
          <a:ln w="19050">
            <a:solidFill>
              <a:srgbClr val="2D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94A3B8"/>
                </a:solidFill>
                <a:latin typeface="Space Grotesk"/>
              </a:defRPr>
            </a:pPr>
            <a:r>
              <a:t>[ DRAG &amp; DROP SCREENSHOT: INTEGRITY DASHBOARD VIEW 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DC0C1-9109-69F6-F81C-3994F80F9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217920" cy="43812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47368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E0C2"/>
                </a:solidFill>
                <a:latin typeface="Space Grotesk"/>
              </a:defRPr>
            </a:pPr>
            <a:r>
              <a:t>Product Showcase: Verification Viewfinder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  <a:latin typeface="Space Grotesk"/>
              </a:defRPr>
            </a:pPr>
            <a:r>
              <a:t>Real-time Verification Scanner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 Switches between print packaging vision analysis and DCGI standard barcode scan modes.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 Sweeping laser animations guide the operator to align components inside the viewfinder frame.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 Developer simulator triggers facilitate comprehensive testing without native hardware cameras.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 Instantly triggers detailed reports or alerts if print or signature tolerances fail.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645920"/>
            <a:ext cx="6217920" cy="4114800"/>
          </a:xfrm>
          <a:prstGeom prst="rect">
            <a:avLst/>
          </a:prstGeom>
          <a:solidFill>
            <a:srgbClr val="10132B"/>
          </a:solidFill>
          <a:ln w="19050">
            <a:solidFill>
              <a:srgbClr val="2D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94A3B8"/>
                </a:solidFill>
                <a:latin typeface="Space Grotesk"/>
              </a:defRPr>
            </a:pPr>
            <a:r>
              <a:t>[ DRAG &amp; DROP SCREENSHOT: SCANNER VIEWFINDER VIEW 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CF11A4-2C20-98E9-F162-7309A86EE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217920" cy="4465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E0C2"/>
                </a:solidFill>
                <a:latin typeface="Space Grotesk"/>
              </a:defRPr>
            </a:pPr>
            <a:r>
              <a:t>Offline-First Sync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•  Local Cache Mirroring: </a:t>
            </a:r>
            <a:r>
              <a:rPr sz="1400" b="0">
                <a:solidFill>
                  <a:srgbClr val="94A3B8"/>
                </a:solidFill>
              </a:rPr>
              <a:t>Uses LocalStorage (web) / SQLite (native mobile) databases to cache up to 100 batch files and manufacturer keys within a 50km radius of the operator.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•  Queued Outbox Pipeline: </a:t>
            </a:r>
            <a:r>
              <a:rPr sz="1400" b="0">
                <a:solidFill>
                  <a:srgbClr val="94A3B8"/>
                </a:solidFill>
              </a:rPr>
              <a:t>If disconnected, scans and reports are stored locally. Sync Center shows outbox status and triggers dynamic uploads once back online.</a:t>
            </a:r>
          </a:p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•  Dynamic Key Fetching: </a:t>
            </a:r>
            <a:r>
              <a:rPr sz="1400" b="0">
                <a:solidFill>
                  <a:srgbClr val="94A3B8"/>
                </a:solidFill>
              </a:rPr>
              <a:t>A 7-day expiration index downloads updated cryptographic signature prefixes to verify batches offline without server lookups.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0132B"/>
          </a:solidFill>
          <a:ln w="19050">
            <a:solidFill>
              <a:srgbClr val="2D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94A3B8"/>
                </a:solidFill>
                <a:latin typeface="Space Grotesk"/>
              </a:defRPr>
            </a:pPr>
            <a:r>
              <a:t>[ DRAG &amp; DROP SCREENSHOT: SYNC &amp; CACHE CENTER VIEW 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FDCD2-7518-3327-059C-388A85512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652" y="1645919"/>
            <a:ext cx="5661672" cy="4441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E0C2"/>
                </a:solidFill>
                <a:latin typeface="Space Grotesk"/>
              </a:defRPr>
            </a:pPr>
            <a:r>
              <a:t>Technical Stack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•  High-Performance Backend: </a:t>
            </a:r>
            <a:r>
              <a:rPr sz="1400" b="0">
                <a:solidFill>
                  <a:srgbClr val="94A3B8"/>
                </a:solidFill>
              </a:rPr>
              <a:t>FastAPI, SQLAlchemy 2.0 ORM, AsyncSession, Uvicorn server, Pydantic V2 validations, PostgreSQL, and Redis cache databases.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•  Modular Service Layer: </a:t>
            </a:r>
            <a:r>
              <a:rPr sz="1400" b="0">
                <a:solidFill>
                  <a:srgbClr val="94A3B8"/>
                </a:solidFill>
              </a:rPr>
              <a:t>Decoupled services for EfficientNet-B0 CV simulations, QR cryptographical decodes, and geopolitical risk engines.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•  Responsive Web Dashboard: </a:t>
            </a:r>
            <a:r>
              <a:rPr sz="1400" b="0">
                <a:solidFill>
                  <a:srgbClr val="94A3B8"/>
                </a:solidFill>
              </a:rPr>
              <a:t>Vite + React + Tailwind CSS client with Lucide icons. Desktop navigation converts into a bottom tab bar on mobile layouts.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•  Security Standards: </a:t>
            </a:r>
            <a:r>
              <a:rPr sz="1400" b="0">
                <a:solidFill>
                  <a:srgbClr val="94A3B8"/>
                </a:solidFill>
              </a:rPr>
              <a:t>Auto-documented REST APIs under Swagger (/docs) with full HTTP Exception handling and token-based signature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2DE0C2"/>
                </a:solidFill>
                <a:latin typeface="Space Grotesk"/>
              </a:defRPr>
            </a:pPr>
            <a:r>
              <a:t>VeriMed: Scan. Verify. Stay Safe.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  <a:latin typeface="Inter"/>
              </a:defRPr>
            </a:pPr>
            <a:r>
              <a:t>Establishing a trust boundary for clinical supply chains in remote regions.</a:t>
            </a:r>
          </a:p>
          <a:p>
            <a:pPr>
              <a:spcBef>
                <a:spcPts val="6000"/>
              </a:spcBef>
              <a:defRPr sz="1600">
                <a:solidFill>
                  <a:srgbClr val="94A3B8"/>
                </a:solidFill>
                <a:latin typeface="Inter"/>
              </a:defRPr>
            </a:pPr>
            <a:r>
              <a:t>Thank you! Open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594</Words>
  <Application>Microsoft Office PowerPoint</Application>
  <PresentationFormat>Custom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Agarwal</cp:lastModifiedBy>
  <cp:revision>2</cp:revision>
  <dcterms:created xsi:type="dcterms:W3CDTF">2013-01-27T09:14:16Z</dcterms:created>
  <dcterms:modified xsi:type="dcterms:W3CDTF">2026-06-20T11:25:44Z</dcterms:modified>
  <cp:category/>
</cp:coreProperties>
</file>